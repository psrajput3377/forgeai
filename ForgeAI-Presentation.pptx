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50000"/>
            <a:ext cx="12192000" cy="14000"/>
          </a:xfrm>
          <a:prstGeom prst="rect">
            <a:avLst/>
          </a:prstGeom>
          <a:solidFill>
            <a:srgbClr val="4F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170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2F4F8"/>
                </a:solidFill>
                <a:latin typeface="Calibri"/>
              </a:rPr>
              <a:t>ForgeAI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750000"/>
            <a:ext cx="10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A4B2"/>
                </a:solidFill>
                <a:latin typeface="Calibri"/>
              </a:rPr>
              <a:t>An autonomous AI engineering team — that measures and improves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600000"/>
            <a:ext cx="11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4F8"/>
                </a:solidFill>
                <a:latin typeface="Calibri"/>
              </a:rPr>
              <a:t>A multi-agent platform that plans, codes, tests, reviews, and ships —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4F8"/>
                </a:solidFill>
                <a:latin typeface="Calibri"/>
              </a:rPr>
              <a:t>then scores every run and gets measurably better over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575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4B2"/>
                </a:solidFill>
                <a:latin typeface="Calibri"/>
              </a:rPr>
              <a:t>13 phases · 334 tests · fully offline-testable · runs on local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Most AI coding tools are one model, one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050000"/>
            <a:ext cx="5100000" cy="34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30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9AA4B2"/>
                </a:solidFill>
                <a:latin typeface="Calibri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2900000"/>
            <a:ext cx="4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2F4F8"/>
                </a:solidFill>
                <a:latin typeface="Calibri"/>
              </a:rPr>
              <a:t>User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9AA4B2"/>
                </a:solidFill>
                <a:latin typeface="Calibri"/>
              </a:rPr>
              <a:t>↓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2F4F8"/>
                </a:solidFill>
                <a:latin typeface="Calibri"/>
              </a:rPr>
              <a:t>LLM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9AA4B2"/>
                </a:solidFill>
                <a:latin typeface="Calibri"/>
              </a:rPr>
              <a:t>↓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2F4F8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490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4B2"/>
                </a:solidFill>
                <a:latin typeface="Calibri"/>
              </a:rPr>
              <a:t>One generalist. No plan, no tests, no review, no memory of what worked.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50000"/>
            <a:ext cx="5000000" cy="34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0" y="2300000"/>
            <a:ext cx="4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F9CF5"/>
                </a:solidFill>
                <a:latin typeface="Calibri"/>
              </a:rPr>
              <a:t>FORGEAI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0000" y="2850000"/>
            <a:ext cx="45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F4F8"/>
                </a:solidFill>
                <a:latin typeface="Calibri"/>
              </a:rPr>
              <a:t>A coordinated team of specialists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4B2"/>
                </a:solidFill>
                <a:latin typeface="Calibri"/>
              </a:rPr>
              <a:t>Manager → Planner → Researcher → Coder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4B2"/>
                </a:solidFill>
                <a:latin typeface="Calibri"/>
              </a:rPr>
              <a:t>→ Tester → Reviewer → DevOps → PR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9AA4B2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FC97A"/>
                </a:solidFill>
                <a:latin typeface="Calibri"/>
              </a:rPr>
              <a:t>…then every run is scored, stored, and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FC97A"/>
                </a:solidFill>
                <a:latin typeface="Calibri"/>
              </a:rPr>
              <a:t>compared — so it improves without code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A team of AI engineers — and a self-improving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950000"/>
            <a:ext cx="109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>
                <a:solidFill>
                  <a:srgbClr val="4F9CF5"/>
                </a:solidFill>
              </a:rPr>
              <a:t>▸ </a:t>
            </a:r>
            <a:r>
              <a:rPr sz="1800" b="1">
                <a:solidFill>
                  <a:srgbClr val="F2F4F8"/>
                </a:solidFill>
                <a:latin typeface="Calibri"/>
              </a:rPr>
              <a:t>Multi-agent autonomous engineering</a:t>
            </a:r>
            <a:r>
              <a:rPr sz="1800">
                <a:solidFill>
                  <a:srgbClr val="9AA4B2"/>
                </a:solidFill>
                <a:latin typeface="Calibri"/>
              </a:rPr>
              <a:t> — 10 specialist agents, each with one job, coordinated by an explicit workflow graph over one shared state.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4F9CF5"/>
                </a:solidFill>
              </a:rPr>
              <a:t>▸ </a:t>
            </a:r>
            <a:r>
              <a:rPr sz="1800" b="1">
                <a:solidFill>
                  <a:srgbClr val="F2F4F8"/>
                </a:solidFill>
                <a:latin typeface="Calibri"/>
              </a:rPr>
              <a:t>Natural language → reviewed pull request</a:t>
            </a:r>
            <a:r>
              <a:rPr sz="1800">
                <a:solidFill>
                  <a:srgbClr val="9AA4B2"/>
                </a:solidFill>
                <a:latin typeface="Calibri"/>
              </a:rPr>
              <a:t> — describe a task; watch the team plan, code, test, and review it live inside a sandbox.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4F9CF5"/>
                </a:solidFill>
              </a:rPr>
              <a:t>▸ </a:t>
            </a:r>
            <a:r>
              <a:rPr sz="1800" b="1">
                <a:solidFill>
                  <a:srgbClr val="F2F4F8"/>
                </a:solidFill>
                <a:latin typeface="Calibri"/>
              </a:rPr>
              <a:t>A self-improving layer on top</a:t>
            </a:r>
            <a:r>
              <a:rPr sz="1800">
                <a:solidFill>
                  <a:srgbClr val="9AA4B2"/>
                </a:solidFill>
                <a:latin typeface="Calibri"/>
              </a:rPr>
              <a:t> — every run is measured, stored, and compared — prompt versions, benchmarks, failure memory, learning loops.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4F9CF5"/>
                </a:solidFill>
              </a:rPr>
              <a:t>▸ </a:t>
            </a:r>
            <a:r>
              <a:rPr sz="1800" b="1">
                <a:solidFill>
                  <a:srgbClr val="F2F4F8"/>
                </a:solidFill>
                <a:latin typeface="Calibri"/>
              </a:rPr>
              <a:t>Runs and is fully tested offline</a:t>
            </a:r>
            <a:r>
              <a:rPr sz="1800">
                <a:solidFill>
                  <a:srgbClr val="9AA4B2"/>
                </a:solidFill>
                <a:latin typeface="Calibri"/>
              </a:rPr>
              <a:t> — every external dependency (LLM, GitHub, datastores) has a deterministic fake. 334 tests pass in seconds.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WHY — THE DESIGN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Five choices that shape the whole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5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212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1. A team, not a model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Real software is built by specialists. Splitting work makes each step inspectable, testable, and debuggable.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0000" y="195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0000" y="212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2. The graph sequences agents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Agents never call each other. Order, branching, and retries are explicit and visible (loose coupling).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60000" y="195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0000" y="212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3. Provider abstraction + fakes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Same code offline (echo, fake GitHub) and in prod (Ollama, real GitHub). Going live is just config.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398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415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4. Human-gated writes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PRs, prompt promotions, workflow changes are proposed then approved. Never silently mutates production.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0000" y="398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0000" y="415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5. Measure before optimizing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Build the evaluation substrate first; learning loops stay advisory until there's real data to act 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One request flows through an explicit workflow 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Manager
(intake)</a:t>
            </a:r>
          </a:p>
        </p:txBody>
      </p:sp>
      <p:sp>
        <p:nvSpPr>
          <p:cNvPr id="7" name="Rectangle 6"/>
          <p:cNvSpPr/>
          <p:nvPr/>
        </p:nvSpPr>
        <p:spPr>
          <a:xfrm>
            <a:off x="206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6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Planner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Researcher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Memory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Coder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0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Execute
(sandbox)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2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2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000" y="3300000"/>
            <a:ext cx="11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4B2"/>
                </a:solidFill>
                <a:latin typeface="Calibri"/>
              </a:rPr>
              <a:t>Review →  approved → Git (proposes a gated PR) → final.   Not approved → Reflection → Coder (retry loop).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0000" y="4050000"/>
            <a:ext cx="10900000" cy="18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4230000"/>
            <a:ext cx="104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F4F8"/>
                </a:solidFill>
                <a:latin typeface="Calibri"/>
              </a:rPr>
              <a:t>Around the graph: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4B2"/>
                </a:solidFill>
                <a:latin typeface="Calibri"/>
              </a:rPr>
              <a:t>Observability — every node emits events to a live timeline, metrics, and WebSocket.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4B2"/>
                </a:solidFill>
                <a:latin typeface="Calibri"/>
              </a:rPr>
              <a:t>Sandbox — generated code runs in isolated Docker; destructive ops withheld.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4B2"/>
                </a:solidFill>
                <a:latin typeface="Calibri"/>
              </a:rPr>
              <a:t>Memory + RAG — past tasks and context retrieved from Qdrant for new requests.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4B2"/>
                </a:solidFill>
                <a:latin typeface="Calibri"/>
              </a:rPr>
              <a:t>GitHub — commits on a local clone; PRs opened only after human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THE DIFFERENTIATOR — PHASE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It measures itself, then improves — behind approval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950000"/>
            <a:ext cx="545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Evaluation Engine</a:t>
            </a:r>
            <a:r>
              <a:rPr sz="1450">
                <a:solidFill>
                  <a:srgbClr val="9AA4B2"/>
                </a:solidFill>
                <a:latin typeface="Calibri"/>
              </a:rPr>
              <a:t> — scores every run via a versioned rubric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Performance Database</a:t>
            </a:r>
            <a:r>
              <a:rPr sz="1450">
                <a:solidFill>
                  <a:srgbClr val="9AA4B2"/>
                </a:solidFill>
                <a:latin typeface="Calibri"/>
              </a:rPr>
              <a:t> — durable, comparable run stats (derived, can't drift)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Prompt Versioning</a:t>
            </a:r>
            <a:r>
              <a:rPr sz="1450">
                <a:solidFill>
                  <a:srgbClr val="9AA4B2"/>
                </a:solidFill>
                <a:latin typeface="Calibri"/>
              </a:rPr>
              <a:t> — append-only; every run records the version it used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Failure Knowledge Base</a:t>
            </a:r>
            <a:r>
              <a:rPr sz="1450">
                <a:solidFill>
                  <a:srgbClr val="9AA4B2"/>
                </a:solidFill>
                <a:latin typeface="Calibri"/>
              </a:rPr>
              <a:t> — Error → Fix → Store → Reuse; self-correcting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Benchmark Suite</a:t>
            </a:r>
            <a:r>
              <a:rPr sz="1450">
                <a:solidFill>
                  <a:srgbClr val="9AA4B2"/>
                </a:solidFill>
                <a:latin typeface="Calibri"/>
              </a:rPr>
              <a:t> — versioned scenarios scored per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0000" y="1950000"/>
            <a:ext cx="53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Multi-Agent Debate</a:t>
            </a:r>
            <a:r>
              <a:rPr sz="1450">
                <a:solidFill>
                  <a:srgbClr val="9AA4B2"/>
                </a:solidFill>
                <a:latin typeface="Calibri"/>
              </a:rPr>
              <a:t> — N planners compete; a judge picks the winner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Dynamic Selection</a:t>
            </a:r>
            <a:r>
              <a:rPr sz="1450">
                <a:solidFill>
                  <a:srgbClr val="9AA4B2"/>
                </a:solidFill>
                <a:latin typeface="Calibri"/>
              </a:rPr>
              <a:t> — routes by task type behind a swappable strategy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Agent Analytics</a:t>
            </a:r>
            <a:r>
              <a:rPr sz="1450">
                <a:solidFill>
                  <a:srgbClr val="9AA4B2"/>
                </a:solidFill>
                <a:latin typeface="Calibri"/>
              </a:rPr>
              <a:t> — dashboard: deltas, prompt comparison, trend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Learning loops</a:t>
            </a:r>
            <a:r>
              <a:rPr sz="1450">
                <a:solidFill>
                  <a:srgbClr val="9AA4B2"/>
                </a:solidFill>
                <a:latin typeface="Calibri"/>
              </a:rPr>
              <a:t> — A/B promote, workflow-opt, PR-outcome — gated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Agent Marketplace</a:t>
            </a:r>
            <a:r>
              <a:rPr sz="1450">
                <a:solidFill>
                  <a:srgbClr val="9AA4B2"/>
                </a:solidFill>
                <a:latin typeface="Calibri"/>
              </a:rPr>
              <a:t> — register + discover contract-checked plugins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5650000"/>
            <a:ext cx="10900000" cy="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3FC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5650000"/>
            <a:ext cx="109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3FC97A"/>
                </a:solidFill>
                <a:latin typeface="Calibri"/>
              </a:rPr>
              <a:t>Proven live:  type a task  →  team executes  →  run scored  →  persisted to PostgreSQL  →  shown on the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FROM ENGINE TO PRODUCT — PHASE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A front door: projects, bootstrap, first-minute wow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950000"/>
            <a:ext cx="109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First-class Projects</a:t>
            </a:r>
            <a:r>
              <a:rPr sz="1550">
                <a:solidFill>
                  <a:srgbClr val="9AA4B2"/>
                </a:solidFill>
                <a:latin typeface="Calibri"/>
              </a:rPr>
              <a:t> — each owns a real workspace directory; CRUD within the existing tenancy + RBAC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Runs bind to a project</a:t>
            </a:r>
            <a:r>
              <a:rPr sz="1550">
                <a:solidFill>
                  <a:srgbClr val="9AA4B2"/>
                </a:solidFill>
                <a:latin typeface="Calibri"/>
              </a:rPr>
              <a:t> — /agents/run targets its path and writes generated files there — a real project on disk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Bootstrap from nothing</a:t>
            </a:r>
            <a:r>
              <a:rPr sz="1550">
                <a:solidFill>
                  <a:srgbClr val="9AA4B2"/>
                </a:solidFill>
                <a:latin typeface="Calibri"/>
              </a:rPr>
              <a:t> — versioned starters (empty, or FastAPI + JWT + Postgres + Docker + tests) scaffold instantly, offline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Onboarding flow</a:t>
            </a:r>
            <a:r>
              <a:rPr sz="1550">
                <a:solidFill>
                  <a:srgbClr val="9AA4B2"/>
                </a:solidFill>
                <a:latin typeface="Calibri"/>
              </a:rPr>
              <a:t> — sign in → project chooser (Create New / Open Existing) → workspace bound to the project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The first-minute wow</a:t>
            </a:r>
            <a:r>
              <a:rPr sz="1550">
                <a:solidFill>
                  <a:srgbClr val="9AA4B2"/>
                </a:solidFill>
                <a:latin typeface="Calibri"/>
              </a:rPr>
              <a:t> — fresh account → pick a starter → watch the team build it live; works offline (MODEL_PROVIDER=echo)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5650000"/>
            <a:ext cx="10900000" cy="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5650000"/>
            <a:ext cx="109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4F9CF5"/>
                </a:solidFill>
                <a:latin typeface="Calibri"/>
              </a:rPr>
              <a:t>Closed the critique head-on: "to which project?", "no bootstrap", "no sub-30s wow" — all resolved.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Why this approach pays 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5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215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Inspectable &amp; debuggable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Each agent does one job; the timeline shows exactly who did what, when.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0000" y="195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0000" y="215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Measurably better over time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Versioned rubric + benchmarks turn 'did it help?' into a number, not a vibe.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60000" y="195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0000" y="215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Safe by construction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Sandboxed execution, path validation, JWT auth, human-gated external writes.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393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413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Runs fully local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Ollama models, no API keys, no data leaving your machine. Swap by config.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0000" y="393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0000" y="413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Reproducible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Deterministic fakes → the whole system tests offline; great for CI &amp; demos.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60000" y="393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0000" y="413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Extensible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Provider abstractions + plugin marketplace; add agents/models without rewrites.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Two ways to use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50000"/>
            <a:ext cx="5300000" cy="3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F9CF5"/>
                </a:solidFill>
                <a:latin typeface="Calibri"/>
              </a:rPr>
              <a:t>AS AN ENGINEERING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2700000"/>
            <a:ext cx="480000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Developers</a:t>
            </a:r>
            <a:r>
              <a:rPr sz="1400">
                <a:solidFill>
                  <a:srgbClr val="9AA4B2"/>
                </a:solidFill>
                <a:latin typeface="Calibri"/>
              </a:rPr>
              <a:t> — offload features, fixes, refactors, tests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Startups</a:t>
            </a:r>
            <a:r>
              <a:rPr sz="1400">
                <a:solidFill>
                  <a:srgbClr val="9AA4B2"/>
                </a:solidFill>
                <a:latin typeface="Calibri"/>
              </a:rPr>
              <a:t> — ship CRUD APIs &amp; internal tooling fast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Companies</a:t>
            </a:r>
            <a:r>
              <a:rPr sz="1400">
                <a:solidFill>
                  <a:srgbClr val="9AA4B2"/>
                </a:solidFill>
                <a:latin typeface="Calibri"/>
              </a:rPr>
              <a:t> — internal dashboards on local models, RBAC, gated PRs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Students</a:t>
            </a:r>
            <a:r>
              <a:rPr sz="1400">
                <a:solidFill>
                  <a:srgbClr val="9AA4B2"/>
                </a:solidFill>
                <a:latin typeface="Calibri"/>
              </a:rPr>
              <a:t> — a transparent reference for how it all fits together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50000" y="1950000"/>
            <a:ext cx="5300000" cy="3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3FC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50000" y="21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FC97A"/>
                </a:solidFill>
                <a:latin typeface="Calibri"/>
              </a:rPr>
              <a:t>AS A RESEARCH SUBSTRATE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0000" y="2700000"/>
            <a:ext cx="480000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Agent evaluation</a:t>
            </a:r>
            <a:r>
              <a:rPr sz="1400">
                <a:solidFill>
                  <a:srgbClr val="9AA4B2"/>
                </a:solidFill>
                <a:latin typeface="Calibri"/>
              </a:rPr>
              <a:t> — rubric + benchmarks + performance DB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Prompt engineering at scale</a:t>
            </a:r>
            <a:r>
              <a:rPr sz="1400">
                <a:solidFill>
                  <a:srgbClr val="9AA4B2"/>
                </a:solidFill>
                <a:latin typeface="Calibri"/>
              </a:rPr>
              <a:t> — versioned prompts as A/B experiments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Self-improving agents</a:t>
            </a:r>
            <a:r>
              <a:rPr sz="1400">
                <a:solidFill>
                  <a:srgbClr val="9AA4B2"/>
                </a:solidFill>
                <a:latin typeface="Calibri"/>
              </a:rPr>
              <a:t> — reflection, debate, learning-from-outcomes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Plugin ecosystem</a:t>
            </a:r>
            <a:r>
              <a:rPr sz="1400">
                <a:solidFill>
                  <a:srgbClr val="9AA4B2"/>
                </a:solidFill>
                <a:latin typeface="Calibri"/>
              </a:rPr>
              <a:t> — permissioned, contract-checked agent marketplace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STACK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Built, tested, and running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950000"/>
            <a:ext cx="110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Frontend</a:t>
            </a:r>
            <a:r>
              <a:rPr sz="1600">
                <a:solidFill>
                  <a:srgbClr val="9AA4B2"/>
                </a:solidFill>
                <a:latin typeface="Calibri"/>
              </a:rPr>
              <a:t> — Next.js · React · TypeScript · Tailwind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Backend</a:t>
            </a:r>
            <a:r>
              <a:rPr sz="1600">
                <a:solidFill>
                  <a:srgbClr val="9AA4B2"/>
                </a:solidFill>
                <a:latin typeface="Calibri"/>
              </a:rPr>
              <a:t> — FastAPI · LangGraph · SQLAlchemy (async) · WebSockets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Data</a:t>
            </a:r>
            <a:r>
              <a:rPr sz="1600">
                <a:solidFill>
                  <a:srgbClr val="9AA4B2"/>
                </a:solidFill>
                <a:latin typeface="Calibri"/>
              </a:rPr>
              <a:t> — PostgreSQL · Redis · Qdrant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AI</a:t>
            </a:r>
            <a:r>
              <a:rPr sz="1600">
                <a:solidFill>
                  <a:srgbClr val="9AA4B2"/>
                </a:solidFill>
                <a:latin typeface="Calibri"/>
              </a:rPr>
              <a:t> — Ollama (local) · model-router abstraction · LangGraph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Infra</a:t>
            </a:r>
            <a:r>
              <a:rPr sz="1600">
                <a:solidFill>
                  <a:srgbClr val="9AA4B2"/>
                </a:solidFill>
                <a:latin typeface="Calibri"/>
              </a:rPr>
              <a:t> — Docker · Docker Compose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750000"/>
            <a:ext cx="10900000" cy="11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3FC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850000"/>
            <a:ext cx="109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3FC97A"/>
                </a:solidFill>
                <a:latin typeface="Calibri"/>
              </a:rPr>
              <a:t>All 13 phases complete  ·  334 tests passing  ·  26 ADRs  ·  fully documented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AA4B2"/>
                </a:solidFill>
                <a:latin typeface="Calibri"/>
              </a:rPr>
              <a:t>From a static pipeline to a self-improving, approval-gated engineering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